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3" r:id="rId4"/>
    <p:sldId id="258" r:id="rId5"/>
    <p:sldId id="259" r:id="rId6"/>
    <p:sldId id="260" r:id="rId7"/>
    <p:sldId id="261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82" y="3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8486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8175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523630"/>
            <a:ext cx="12191695" cy="685800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5544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5F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✈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68680" y="7315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AeroBaku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93192"/>
            <a:ext cx="10058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AIRPORT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6976872" y="100584"/>
            <a:ext cx="960120" cy="411480"/>
          </a:xfrm>
          <a:prstGeom prst="roundRect">
            <a:avLst>
              <a:gd name="adj" fmla="val 48889"/>
            </a:avLst>
          </a:prstGeom>
          <a:solidFill>
            <a:srgbClr val="E7F3FF"/>
          </a:solidFill>
          <a:ln w="12700">
            <a:solidFill>
              <a:srgbClr val="E7F3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8660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74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Главная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813816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Рейсы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918972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Сервисы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1024128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Поддержка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640080" y="105156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5F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КУРСОВАЯ РАБОТА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40080" y="14173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Разработка онлайн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информационной системы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для аэропорта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58368" y="3785616"/>
            <a:ext cx="4297680" cy="8229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Студент: Бахшиев Рахин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Группа: 680.23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Предмет: Веб-системы и технологии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8368" y="4892040"/>
            <a:ext cx="713232" cy="347472"/>
          </a:xfrm>
          <a:prstGeom prst="roundRect">
            <a:avLst>
              <a:gd name="adj" fmla="val 50000"/>
            </a:avLst>
          </a:prstGeom>
          <a:solidFill>
            <a:srgbClr val="E7F3FF"/>
          </a:solidFill>
          <a:ln w="12700">
            <a:solidFill>
              <a:srgbClr val="E7F3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992624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4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481328" y="4892040"/>
            <a:ext cx="621792" cy="347472"/>
          </a:xfrm>
          <a:prstGeom prst="roundRect">
            <a:avLst>
              <a:gd name="adj" fmla="val 50000"/>
            </a:avLst>
          </a:prstGeom>
          <a:solidFill>
            <a:srgbClr val="E7F3FF"/>
          </a:solidFill>
          <a:ln w="12700">
            <a:solidFill>
              <a:srgbClr val="E7F3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81328" y="4992624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4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212848" y="4892040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7F3FF"/>
          </a:solidFill>
          <a:ln w="12700">
            <a:solidFill>
              <a:srgbClr val="E7F3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12848" y="4992624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4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456432" y="489204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DFF1FF"/>
          </a:solidFill>
          <a:ln w="12700">
            <a:solidFill>
              <a:srgbClr val="DFF1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56432" y="4992624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4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AeroBaku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32704" y="1024128"/>
            <a:ext cx="5925312" cy="4078224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  <a:effectLst>
            <a:outerShdw blurRad="25400" dist="50800" dir="2700000" algn="bl" rotWithShape="0">
              <a:srgbClr val="0C3769">
                <a:alpha val="11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1292840" y="644652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1/6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02920" y="6483096"/>
            <a:ext cx="1371600" cy="0"/>
          </a:xfrm>
          <a:prstGeom prst="line">
            <a:avLst/>
          </a:prstGeom>
          <a:noFill/>
          <a:ln w="12700">
            <a:solidFill>
              <a:srgbClr val="DBE8F5"/>
            </a:solidFill>
            <a:prstDash val="solid"/>
          </a:ln>
        </p:spPr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D7D60D6-B210-4FE0-A78B-CDE70DF0B6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1423" y="1153160"/>
            <a:ext cx="5766328" cy="38507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523631"/>
            <a:ext cx="12191695" cy="685800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-7815"/>
            <a:ext cx="121916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5544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5F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✈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68680" y="7315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AeroBaku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93192"/>
            <a:ext cx="10058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AIRPORT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6976872" y="100584"/>
            <a:ext cx="960120" cy="411480"/>
          </a:xfrm>
          <a:prstGeom prst="roundRect">
            <a:avLst>
              <a:gd name="adj" fmla="val 48889"/>
            </a:avLst>
          </a:prstGeom>
          <a:solidFill>
            <a:srgbClr val="E7F3FF"/>
          </a:solidFill>
          <a:ln w="12700">
            <a:solidFill>
              <a:srgbClr val="E7F3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8660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74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Главная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813816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Рейсы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918972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Сервисы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1024128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Поддержка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594360" y="91440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5F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ЦЕЛЬ ПРОЕКТА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94360" y="12344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ru-RU" sz="2800" b="1" dirty="0"/>
              <a:t>Цель и задачи разработки</a:t>
            </a:r>
            <a:endParaRPr lang="en-US" sz="2800" b="1" dirty="0"/>
          </a:p>
        </p:txBody>
      </p:sp>
      <p:sp>
        <p:nvSpPr>
          <p:cNvPr id="14" name="Shape 12"/>
          <p:cNvSpPr/>
          <p:nvPr/>
        </p:nvSpPr>
        <p:spPr>
          <a:xfrm>
            <a:off x="640080" y="2532888"/>
            <a:ext cx="164592" cy="164592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2514600"/>
            <a:ext cx="4370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3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Быстрый доступ к рейсам</a:t>
            </a:r>
            <a:endParaRPr lang="en-US" sz="1330" dirty="0"/>
          </a:p>
        </p:txBody>
      </p:sp>
      <p:sp>
        <p:nvSpPr>
          <p:cNvPr id="16" name="Text 14"/>
          <p:cNvSpPr/>
          <p:nvPr/>
        </p:nvSpPr>
        <p:spPr>
          <a:xfrm>
            <a:off x="932688" y="2770632"/>
            <a:ext cx="4370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1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Пассажир видит направление, время, терминал и статус.</a:t>
            </a:r>
            <a:endParaRPr lang="en-US" sz="1110" dirty="0"/>
          </a:p>
        </p:txBody>
      </p:sp>
      <p:sp>
        <p:nvSpPr>
          <p:cNvPr id="17" name="Shape 15"/>
          <p:cNvSpPr/>
          <p:nvPr/>
        </p:nvSpPr>
        <p:spPr>
          <a:xfrm>
            <a:off x="640080" y="3419856"/>
            <a:ext cx="164592" cy="164592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3401568"/>
            <a:ext cx="4370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3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Понятная навигация</a:t>
            </a:r>
            <a:endParaRPr lang="en-US" sz="1330" dirty="0"/>
          </a:p>
        </p:txBody>
      </p:sp>
      <p:sp>
        <p:nvSpPr>
          <p:cNvPr id="19" name="Text 17"/>
          <p:cNvSpPr/>
          <p:nvPr/>
        </p:nvSpPr>
        <p:spPr>
          <a:xfrm>
            <a:off x="932688" y="3657600"/>
            <a:ext cx="4370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1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Главная, рейсы, сервисы и поддержка вынесены в верхнее меню.</a:t>
            </a:r>
            <a:endParaRPr lang="en-US" sz="1110" dirty="0"/>
          </a:p>
        </p:txBody>
      </p:sp>
      <p:sp>
        <p:nvSpPr>
          <p:cNvPr id="20" name="Shape 18"/>
          <p:cNvSpPr/>
          <p:nvPr/>
        </p:nvSpPr>
        <p:spPr>
          <a:xfrm>
            <a:off x="640080" y="4315968"/>
            <a:ext cx="164592" cy="164592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4297680"/>
            <a:ext cx="4370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3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Поддержка пассажиров</a:t>
            </a:r>
            <a:endParaRPr lang="en-US" sz="1330" dirty="0"/>
          </a:p>
        </p:txBody>
      </p:sp>
      <p:sp>
        <p:nvSpPr>
          <p:cNvPr id="22" name="Text 20"/>
          <p:cNvSpPr/>
          <p:nvPr/>
        </p:nvSpPr>
        <p:spPr>
          <a:xfrm>
            <a:off x="932688" y="4553712"/>
            <a:ext cx="4370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1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Форма обращения помогает связаться с аэропортом по билету, багажу или рейсу.</a:t>
            </a:r>
            <a:endParaRPr lang="en-US" sz="1110" dirty="0"/>
          </a:p>
        </p:txBody>
      </p:sp>
      <p:sp>
        <p:nvSpPr>
          <p:cNvPr id="23" name="Shape 21"/>
          <p:cNvSpPr/>
          <p:nvPr/>
        </p:nvSpPr>
        <p:spPr>
          <a:xfrm>
            <a:off x="5943600" y="1602154"/>
            <a:ext cx="5303520" cy="3665415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  <a:effectLst>
            <a:outerShdw blurRad="25400" dist="50800" dir="2700000" algn="bl" rotWithShape="0">
              <a:srgbClr val="0C3769">
                <a:alpha val="11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980176" y="1664676"/>
            <a:ext cx="5102352" cy="3532555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  <a:effectLst>
            <a:outerShdw blurRad="25400" dist="50800" dir="2700000" algn="bl" rotWithShape="0">
              <a:srgbClr val="0C3769">
                <a:alpha val="11000"/>
              </a:srgbClr>
            </a:outerShdw>
          </a:effectLst>
        </p:spPr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98131" y="1758462"/>
            <a:ext cx="5175787" cy="3310052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1292840" y="644652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2/6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02920" y="6483096"/>
            <a:ext cx="1371600" cy="0"/>
          </a:xfrm>
          <a:prstGeom prst="line">
            <a:avLst/>
          </a:prstGeom>
          <a:noFill/>
          <a:ln w="12700">
            <a:solidFill>
              <a:srgbClr val="DBE8F5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523631"/>
            <a:ext cx="12191695" cy="685800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-7815"/>
            <a:ext cx="121916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5544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5F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✈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68680" y="7315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AeroBaku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93192"/>
            <a:ext cx="10058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AIRPORT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6976872" y="100584"/>
            <a:ext cx="960120" cy="411480"/>
          </a:xfrm>
          <a:prstGeom prst="roundRect">
            <a:avLst>
              <a:gd name="adj" fmla="val 48889"/>
            </a:avLst>
          </a:prstGeom>
          <a:solidFill>
            <a:srgbClr val="E7F3FF"/>
          </a:solidFill>
          <a:ln w="12700">
            <a:solidFill>
              <a:srgbClr val="E7F3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8660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74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Главная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813816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Рейсы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918972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Сервисы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1024128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Поддержка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594360" y="91440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5F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ЦЕЛЬ ПРОЕКТА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94360" y="12344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ru-RU" sz="2800" b="1" dirty="0"/>
              <a:t>Используемые технологии</a:t>
            </a:r>
            <a:endParaRPr lang="en-US" sz="2800" b="1" dirty="0"/>
          </a:p>
        </p:txBody>
      </p:sp>
      <p:sp>
        <p:nvSpPr>
          <p:cNvPr id="14" name="Shape 12"/>
          <p:cNvSpPr/>
          <p:nvPr/>
        </p:nvSpPr>
        <p:spPr>
          <a:xfrm>
            <a:off x="640080" y="2532888"/>
            <a:ext cx="164592" cy="164592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2514600"/>
            <a:ext cx="4370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3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</a:t>
            </a:r>
            <a:endParaRPr lang="en-US" sz="1330" dirty="0"/>
          </a:p>
        </p:txBody>
      </p:sp>
      <p:sp>
        <p:nvSpPr>
          <p:cNvPr id="16" name="Text 14"/>
          <p:cNvSpPr/>
          <p:nvPr/>
        </p:nvSpPr>
        <p:spPr>
          <a:xfrm>
            <a:off x="932688" y="2770632"/>
            <a:ext cx="4370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ru-RU" sz="1200" dirty="0"/>
              <a:t>создание структуры страниц сайта</a:t>
            </a:r>
            <a:endParaRPr lang="en-US" sz="1110" dirty="0"/>
          </a:p>
        </p:txBody>
      </p:sp>
      <p:sp>
        <p:nvSpPr>
          <p:cNvPr id="17" name="Shape 15"/>
          <p:cNvSpPr/>
          <p:nvPr/>
        </p:nvSpPr>
        <p:spPr>
          <a:xfrm>
            <a:off x="640080" y="3419856"/>
            <a:ext cx="164592" cy="164592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3401568"/>
            <a:ext cx="4370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3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CSS</a:t>
            </a:r>
            <a:endParaRPr lang="en-US" sz="1330" dirty="0"/>
          </a:p>
        </p:txBody>
      </p:sp>
      <p:sp>
        <p:nvSpPr>
          <p:cNvPr id="19" name="Text 17"/>
          <p:cNvSpPr/>
          <p:nvPr/>
        </p:nvSpPr>
        <p:spPr>
          <a:xfrm>
            <a:off x="932688" y="3657600"/>
            <a:ext cx="4370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ru-RU" sz="1200" dirty="0"/>
              <a:t>оформление интерфейса и адаптивный дизайн</a:t>
            </a:r>
            <a:endParaRPr lang="en-US" sz="1110" dirty="0"/>
          </a:p>
        </p:txBody>
      </p:sp>
      <p:sp>
        <p:nvSpPr>
          <p:cNvPr id="20" name="Shape 18"/>
          <p:cNvSpPr/>
          <p:nvPr/>
        </p:nvSpPr>
        <p:spPr>
          <a:xfrm>
            <a:off x="640080" y="4315968"/>
            <a:ext cx="164592" cy="164592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4297680"/>
            <a:ext cx="4370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3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1330" dirty="0"/>
          </a:p>
        </p:txBody>
      </p:sp>
      <p:sp>
        <p:nvSpPr>
          <p:cNvPr id="22" name="Text 20"/>
          <p:cNvSpPr/>
          <p:nvPr/>
        </p:nvSpPr>
        <p:spPr>
          <a:xfrm>
            <a:off x="932688" y="4553712"/>
            <a:ext cx="4370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ru-RU" sz="1200" dirty="0"/>
              <a:t>интерактивность, поиск, фильтрация и работа с данными</a:t>
            </a:r>
            <a:endParaRPr lang="en-US" sz="1110" dirty="0"/>
          </a:p>
        </p:txBody>
      </p:sp>
      <p:sp>
        <p:nvSpPr>
          <p:cNvPr id="26" name="Text 23"/>
          <p:cNvSpPr/>
          <p:nvPr/>
        </p:nvSpPr>
        <p:spPr>
          <a:xfrm>
            <a:off x="11292840" y="644652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2/6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02920" y="6483096"/>
            <a:ext cx="1371600" cy="0"/>
          </a:xfrm>
          <a:prstGeom prst="line">
            <a:avLst/>
          </a:prstGeom>
          <a:noFill/>
          <a:ln w="12700">
            <a:solidFill>
              <a:srgbClr val="DBE8F5"/>
            </a:solidFill>
            <a:prstDash val="solid"/>
          </a:ln>
        </p:spPr>
      </p:sp>
      <p:sp>
        <p:nvSpPr>
          <p:cNvPr id="28" name="Shape 18">
            <a:extLst>
              <a:ext uri="{FF2B5EF4-FFF2-40B4-BE49-F238E27FC236}">
                <a16:creationId xmlns:a16="http://schemas.microsoft.com/office/drawing/2014/main" id="{9203ACCE-A278-47D6-B9D9-5BD6EE3F197C}"/>
              </a:ext>
            </a:extLst>
          </p:cNvPr>
          <p:cNvSpPr/>
          <p:nvPr/>
        </p:nvSpPr>
        <p:spPr>
          <a:xfrm>
            <a:off x="664112" y="5322511"/>
            <a:ext cx="164592" cy="164592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>
                <a:alpha val="0"/>
              </a:srgbClr>
            </a:solidFill>
            <a:prstDash val="solid"/>
          </a:ln>
        </p:spPr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877A34F-4D5E-4B69-A774-6C54F31DA0D5}"/>
              </a:ext>
            </a:extLst>
          </p:cNvPr>
          <p:cNvSpPr txBox="1"/>
          <p:nvPr/>
        </p:nvSpPr>
        <p:spPr>
          <a:xfrm>
            <a:off x="903458" y="5258613"/>
            <a:ext cx="235034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 err="1"/>
              <a:t>localStorage</a:t>
            </a:r>
            <a:endParaRPr lang="en-US" sz="13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0C03A6-D2C0-4E49-AE34-E11509472192}"/>
              </a:ext>
            </a:extLst>
          </p:cNvPr>
          <p:cNvSpPr txBox="1"/>
          <p:nvPr/>
        </p:nvSpPr>
        <p:spPr>
          <a:xfrm>
            <a:off x="868680" y="5552872"/>
            <a:ext cx="38873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сохранение отслеживаемых рейсов и обращений пользователя в браузере</a:t>
            </a:r>
            <a:endParaRPr lang="en-US" sz="12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7426E47-F6A7-4233-871F-83DE205AA1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2118" y="822960"/>
            <a:ext cx="2278159" cy="2674935"/>
          </a:xfrm>
          <a:prstGeom prst="rect">
            <a:avLst/>
          </a:prstGeom>
        </p:spPr>
      </p:pic>
      <p:sp>
        <p:nvSpPr>
          <p:cNvPr id="33" name="Oval 32">
            <a:extLst>
              <a:ext uri="{FF2B5EF4-FFF2-40B4-BE49-F238E27FC236}">
                <a16:creationId xmlns:a16="http://schemas.microsoft.com/office/drawing/2014/main" id="{DC10BE5F-FA87-4A0F-AE54-94FFE4834FA4}"/>
              </a:ext>
            </a:extLst>
          </p:cNvPr>
          <p:cNvSpPr/>
          <p:nvPr/>
        </p:nvSpPr>
        <p:spPr>
          <a:xfrm>
            <a:off x="6141567" y="866394"/>
            <a:ext cx="352161" cy="260604"/>
          </a:xfrm>
          <a:prstGeom prst="ellipse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3BEFFE1D-6189-48A2-BDA4-9E5BF47DA8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0805" y="866394"/>
            <a:ext cx="2278159" cy="2631501"/>
          </a:xfrm>
          <a:prstGeom prst="rect">
            <a:avLst/>
          </a:prstGeom>
        </p:spPr>
      </p:pic>
      <p:sp>
        <p:nvSpPr>
          <p:cNvPr id="36" name="Oval 35">
            <a:extLst>
              <a:ext uri="{FF2B5EF4-FFF2-40B4-BE49-F238E27FC236}">
                <a16:creationId xmlns:a16="http://schemas.microsoft.com/office/drawing/2014/main" id="{F9DF07A9-F241-4354-857F-3C51468ABC01}"/>
              </a:ext>
            </a:extLst>
          </p:cNvPr>
          <p:cNvSpPr/>
          <p:nvPr/>
        </p:nvSpPr>
        <p:spPr>
          <a:xfrm>
            <a:off x="8691553" y="866394"/>
            <a:ext cx="352161" cy="260604"/>
          </a:xfrm>
          <a:prstGeom prst="ellipse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A93DC1B4-987F-4CBF-BEB9-677FB8FE02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1567" y="3701407"/>
            <a:ext cx="2278159" cy="2727840"/>
          </a:xfrm>
          <a:prstGeom prst="rect">
            <a:avLst/>
          </a:prstGeom>
        </p:spPr>
      </p:pic>
      <p:sp>
        <p:nvSpPr>
          <p:cNvPr id="39" name="Oval 38">
            <a:extLst>
              <a:ext uri="{FF2B5EF4-FFF2-40B4-BE49-F238E27FC236}">
                <a16:creationId xmlns:a16="http://schemas.microsoft.com/office/drawing/2014/main" id="{0595AA53-4D6C-4A98-BCF1-2BAAC2B29E04}"/>
              </a:ext>
            </a:extLst>
          </p:cNvPr>
          <p:cNvSpPr/>
          <p:nvPr/>
        </p:nvSpPr>
        <p:spPr>
          <a:xfrm>
            <a:off x="6092118" y="3717036"/>
            <a:ext cx="352161" cy="260604"/>
          </a:xfrm>
          <a:prstGeom prst="ellipse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6E9D47B3-D6A3-4CAA-A39E-55855CFE5E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2104" y="3678815"/>
            <a:ext cx="2276860" cy="2729918"/>
          </a:xfrm>
          <a:prstGeom prst="rect">
            <a:avLst/>
          </a:prstGeom>
        </p:spPr>
      </p:pic>
      <p:sp>
        <p:nvSpPr>
          <p:cNvPr id="44" name="Oval 43">
            <a:extLst>
              <a:ext uri="{FF2B5EF4-FFF2-40B4-BE49-F238E27FC236}">
                <a16:creationId xmlns:a16="http://schemas.microsoft.com/office/drawing/2014/main" id="{EC4B83E3-1AD9-406B-899D-5EE5307783DC}"/>
              </a:ext>
            </a:extLst>
          </p:cNvPr>
          <p:cNvSpPr/>
          <p:nvPr/>
        </p:nvSpPr>
        <p:spPr>
          <a:xfrm>
            <a:off x="8640805" y="3717036"/>
            <a:ext cx="352161" cy="260604"/>
          </a:xfrm>
          <a:prstGeom prst="ellipse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8910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5544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5F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✈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68680" y="7315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AeroBaku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93192"/>
            <a:ext cx="10058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AIRPORT</a:t>
            </a:r>
            <a:endParaRPr lang="en-US" sz="650" dirty="0"/>
          </a:p>
        </p:txBody>
      </p:sp>
      <p:sp>
        <p:nvSpPr>
          <p:cNvPr id="7" name="Text 5"/>
          <p:cNvSpPr/>
          <p:nvPr/>
        </p:nvSpPr>
        <p:spPr>
          <a:xfrm>
            <a:off x="708660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Главная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8028432" y="100584"/>
            <a:ext cx="960120" cy="411480"/>
          </a:xfrm>
          <a:prstGeom prst="roundRect">
            <a:avLst>
              <a:gd name="adj" fmla="val 48889"/>
            </a:avLst>
          </a:prstGeom>
          <a:solidFill>
            <a:srgbClr val="E7F3FF"/>
          </a:solidFill>
          <a:ln w="12700">
            <a:solidFill>
              <a:srgbClr val="E7F3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3816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74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Рейсы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918972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Сервисы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1024128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Поддержка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594360" y="91440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5F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СТРУКТУРА САЙТА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94360" y="12344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основные страницы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640080" y="2057400"/>
            <a:ext cx="4389120" cy="749808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2258568"/>
            <a:ext cx="475488" cy="347472"/>
          </a:xfrm>
          <a:prstGeom prst="roundRect">
            <a:avLst>
              <a:gd name="adj" fmla="val 50000"/>
            </a:avLst>
          </a:prstGeom>
          <a:solidFill>
            <a:srgbClr val="DFF1FF"/>
          </a:solidFill>
          <a:ln w="12700">
            <a:solidFill>
              <a:srgbClr val="DFF1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2359152"/>
            <a:ext cx="4754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4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481328" y="2203704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Главная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1481328" y="2441448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Общее описание системы и быстрый поиск рейса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640080" y="2953512"/>
            <a:ext cx="4389120" cy="749808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" y="3154680"/>
            <a:ext cx="475488" cy="347472"/>
          </a:xfrm>
          <a:prstGeom prst="roundRect">
            <a:avLst>
              <a:gd name="adj" fmla="val 50000"/>
            </a:avLst>
          </a:prstGeom>
          <a:solidFill>
            <a:srgbClr val="DFF1FF"/>
          </a:solidFill>
          <a:ln w="12700">
            <a:solidFill>
              <a:srgbClr val="DFF1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" y="3255264"/>
            <a:ext cx="4754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4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481328" y="3099816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Рейсы</a:t>
            </a:r>
            <a:endParaRPr lang="en-US" sz="1320" dirty="0"/>
          </a:p>
        </p:txBody>
      </p:sp>
      <p:sp>
        <p:nvSpPr>
          <p:cNvPr id="23" name="Text 21"/>
          <p:cNvSpPr/>
          <p:nvPr/>
        </p:nvSpPr>
        <p:spPr>
          <a:xfrm>
            <a:off x="1481328" y="3337560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Онлайн-табло, фильтры, статусы и отслеживание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40080" y="3849624"/>
            <a:ext cx="4389120" cy="749808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1248" y="4050792"/>
            <a:ext cx="475488" cy="347472"/>
          </a:xfrm>
          <a:prstGeom prst="roundRect">
            <a:avLst>
              <a:gd name="adj" fmla="val 50000"/>
            </a:avLst>
          </a:prstGeom>
          <a:solidFill>
            <a:srgbClr val="DFF1FF"/>
          </a:solidFill>
          <a:ln w="12700">
            <a:solidFill>
              <a:srgbClr val="DFF1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" y="4151376"/>
            <a:ext cx="4754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4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481328" y="3995928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Сервисы</a:t>
            </a:r>
            <a:endParaRPr lang="en-US" sz="1320" dirty="0"/>
          </a:p>
        </p:txBody>
      </p:sp>
      <p:sp>
        <p:nvSpPr>
          <p:cNvPr id="28" name="Text 26"/>
          <p:cNvSpPr/>
          <p:nvPr/>
        </p:nvSpPr>
        <p:spPr>
          <a:xfrm>
            <a:off x="1481328" y="4233672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Информация об услугах аэропорта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640080" y="4745736"/>
            <a:ext cx="4389120" cy="749808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1248" y="4946904"/>
            <a:ext cx="475488" cy="347472"/>
          </a:xfrm>
          <a:prstGeom prst="roundRect">
            <a:avLst>
              <a:gd name="adj" fmla="val 50000"/>
            </a:avLst>
          </a:prstGeom>
          <a:solidFill>
            <a:srgbClr val="DFF1FF"/>
          </a:solidFill>
          <a:ln w="12700">
            <a:solidFill>
              <a:srgbClr val="DFF1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" y="5047488"/>
            <a:ext cx="4754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4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481328" y="4892040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Поддержка</a:t>
            </a:r>
            <a:endParaRPr lang="en-US" sz="1320" dirty="0"/>
          </a:p>
        </p:txBody>
      </p:sp>
      <p:sp>
        <p:nvSpPr>
          <p:cNvPr id="33" name="Text 31"/>
          <p:cNvSpPr/>
          <p:nvPr/>
        </p:nvSpPr>
        <p:spPr>
          <a:xfrm>
            <a:off x="1481328" y="5129784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Форма обращения и контактные данные</a:t>
            </a:r>
            <a:endParaRPr lang="en-US" sz="980" dirty="0"/>
          </a:p>
        </p:txBody>
      </p:sp>
      <p:sp>
        <p:nvSpPr>
          <p:cNvPr id="34" name="Shape 32"/>
          <p:cNvSpPr/>
          <p:nvPr/>
        </p:nvSpPr>
        <p:spPr>
          <a:xfrm>
            <a:off x="5495544" y="1106424"/>
            <a:ext cx="6245352" cy="4233672"/>
          </a:xfrm>
          <a:prstGeom prst="roundRect">
            <a:avLst>
              <a:gd name="adj" fmla="val 3456"/>
            </a:avLst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  <a:effectLst>
            <a:outerShdw blurRad="25400" dist="50800" dir="2700000" algn="bl" rotWithShape="0">
              <a:srgbClr val="0C3769">
                <a:alpha val="11000"/>
              </a:srgbClr>
            </a:outerShdw>
          </a:effectLst>
        </p:spPr>
      </p:sp>
      <p:pic>
        <p:nvPicPr>
          <p:cNvPr id="35" name="Image 0" descr="/mnt/data/airport_docx_extract/word/media/image2.png"/>
          <p:cNvPicPr>
            <a:picLocks noChangeAspect="1"/>
          </p:cNvPicPr>
          <p:nvPr/>
        </p:nvPicPr>
        <p:blipFill>
          <a:blip r:embed="rId3"/>
          <a:srcRect l="7237" r="7237"/>
          <a:stretch/>
        </p:blipFill>
        <p:spPr>
          <a:xfrm>
            <a:off x="5532120" y="1143000"/>
            <a:ext cx="6172200" cy="4160520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5596128" y="5596128"/>
            <a:ext cx="585216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Главный рабочий раздел - страница «Рейсы»: поиск, фильтр по типу рейса и статусу, список найденных рейсов.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11292840" y="644652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3/6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502920" y="6483096"/>
            <a:ext cx="1371600" cy="0"/>
          </a:xfrm>
          <a:prstGeom prst="line">
            <a:avLst/>
          </a:prstGeom>
          <a:noFill/>
          <a:ln w="12700">
            <a:solidFill>
              <a:srgbClr val="DBE8F5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64124"/>
            <a:ext cx="12191695" cy="685800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5544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5F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✈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68680" y="7315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AeroBaku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93192"/>
            <a:ext cx="10058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AIRPORT</a:t>
            </a:r>
            <a:endParaRPr lang="en-US" sz="650" dirty="0"/>
          </a:p>
        </p:txBody>
      </p:sp>
      <p:sp>
        <p:nvSpPr>
          <p:cNvPr id="7" name="Text 5"/>
          <p:cNvSpPr/>
          <p:nvPr/>
        </p:nvSpPr>
        <p:spPr>
          <a:xfrm>
            <a:off x="708660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Главная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8028432" y="100584"/>
            <a:ext cx="960120" cy="411480"/>
          </a:xfrm>
          <a:prstGeom prst="roundRect">
            <a:avLst>
              <a:gd name="adj" fmla="val 48889"/>
            </a:avLst>
          </a:prstGeom>
          <a:solidFill>
            <a:srgbClr val="E7F3FF"/>
          </a:solidFill>
          <a:ln w="12700">
            <a:solidFill>
              <a:srgbClr val="E7F3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3816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74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Рейсы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918972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Сервисы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1024128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Поддержка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594360" y="89611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5F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ИНТЕРАКТИВНОСТЬ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94360" y="120700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Поиск, фильтрация</a:t>
            </a:r>
            <a:endParaRPr lang="en-US" sz="2700" dirty="0"/>
          </a:p>
          <a:p>
            <a:pPr marL="0" indent="0">
              <a:buNone/>
            </a:pPr>
            <a:r>
              <a:rPr lang="en-US" sz="270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 отслеживание рейсов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621792" y="2331720"/>
            <a:ext cx="4572000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 обрабатывает ввод пользователя и обновляет список рейсов без перезагрузки страницы.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063240"/>
            <a:ext cx="4526280" cy="1600200"/>
          </a:xfrm>
          <a:prstGeom prst="roundRect">
            <a:avLst>
              <a:gd name="adj" fmla="val 10286"/>
            </a:avLst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  <a:effectLst>
            <a:outerShdw blurRad="25400" dist="50800" dir="2700000" algn="bl" rotWithShape="0">
              <a:srgbClr val="0C3769">
                <a:alpha val="11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336499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Основные функции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3657600"/>
            <a:ext cx="3840480" cy="6858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поиск по городу или номеру рейса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фильтр по вылетам/прилётам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фильтр по статусу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список отслеживаемых рейсов</a:t>
            </a:r>
            <a:endParaRPr lang="en-US" sz="1140" dirty="0"/>
          </a:p>
        </p:txBody>
      </p:sp>
      <p:sp>
        <p:nvSpPr>
          <p:cNvPr id="18" name="Shape 16"/>
          <p:cNvSpPr/>
          <p:nvPr/>
        </p:nvSpPr>
        <p:spPr>
          <a:xfrm>
            <a:off x="5477256" y="1576668"/>
            <a:ext cx="6245352" cy="3855024"/>
          </a:xfrm>
          <a:prstGeom prst="roundRect">
            <a:avLst>
              <a:gd name="adj" fmla="val 2974"/>
            </a:avLst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  <a:effectLst>
            <a:outerShdw blurRad="25400" dist="50800" dir="2700000" algn="bl" rotWithShape="0">
              <a:srgbClr val="0C3769">
                <a:alpha val="11000"/>
              </a:srgbClr>
            </a:outerShdw>
          </a:effectLst>
        </p:spPr>
      </p:sp>
      <p:pic>
        <p:nvPicPr>
          <p:cNvPr id="19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513832" y="1722971"/>
            <a:ext cx="6172200" cy="3558361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1292840" y="644652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4/6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02920" y="6483096"/>
            <a:ext cx="1371600" cy="0"/>
          </a:xfrm>
          <a:prstGeom prst="line">
            <a:avLst/>
          </a:prstGeom>
          <a:noFill/>
          <a:ln w="12700">
            <a:solidFill>
              <a:srgbClr val="DBE8F5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5544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5F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✈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68680" y="7315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AeroBaku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93192"/>
            <a:ext cx="10058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AIRPORT</a:t>
            </a:r>
            <a:endParaRPr lang="en-US" sz="650" dirty="0"/>
          </a:p>
        </p:txBody>
      </p:sp>
      <p:sp>
        <p:nvSpPr>
          <p:cNvPr id="7" name="Text 5"/>
          <p:cNvSpPr/>
          <p:nvPr/>
        </p:nvSpPr>
        <p:spPr>
          <a:xfrm>
            <a:off x="708660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Главная</a:t>
            </a:r>
            <a:endParaRPr lang="en-US" sz="980" dirty="0"/>
          </a:p>
        </p:txBody>
      </p:sp>
      <p:sp>
        <p:nvSpPr>
          <p:cNvPr id="8" name="Text 6"/>
          <p:cNvSpPr/>
          <p:nvPr/>
        </p:nvSpPr>
        <p:spPr>
          <a:xfrm>
            <a:off x="813816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Рейсы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918972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Сервисы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10131552" y="100584"/>
            <a:ext cx="960120" cy="411480"/>
          </a:xfrm>
          <a:prstGeom prst="roundRect">
            <a:avLst>
              <a:gd name="adj" fmla="val 48889"/>
            </a:avLst>
          </a:prstGeom>
          <a:solidFill>
            <a:srgbClr val="E7F3FF"/>
          </a:solidFill>
          <a:ln w="12700">
            <a:solidFill>
              <a:srgbClr val="E7F3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74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Поддержка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594360" y="89611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5F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ОБРАТНАЯ СВЯЗЬ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94360" y="120700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Поддержка пассажиров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21792" y="2011680"/>
            <a:ext cx="4617720" cy="6858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Форма позволяет отправить обращение по теме билета, багажа или регистрации на рейс. Пользователь получает визуальное подтверждение отправки.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127248"/>
            <a:ext cx="4480560" cy="1417320"/>
          </a:xfrm>
          <a:prstGeom prst="roundRect">
            <a:avLst>
              <a:gd name="adj" fmla="val 11613"/>
            </a:avLst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  <a:effectLst>
            <a:outerShdw blurRad="25400" dist="50800" dir="2700000" algn="bl" rotWithShape="0">
              <a:srgbClr val="0C3769">
                <a:alpha val="11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341985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8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Что показывает этот раздел</a:t>
            </a:r>
            <a:endParaRPr lang="en-US" sz="1380" dirty="0"/>
          </a:p>
        </p:txBody>
      </p:sp>
      <p:sp>
        <p:nvSpPr>
          <p:cNvPr id="17" name="Text 15"/>
          <p:cNvSpPr/>
          <p:nvPr/>
        </p:nvSpPr>
        <p:spPr>
          <a:xfrm>
            <a:off x="914400" y="3730752"/>
            <a:ext cx="3749040" cy="6126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работа формы ввода</a:t>
            </a:r>
            <a:endParaRPr lang="en-US" sz="1130" dirty="0"/>
          </a:p>
          <a:p>
            <a:pPr marL="0" indent="0">
              <a:buNone/>
            </a:pPr>
            <a:r>
              <a:rPr lang="en-US" sz="113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проверка данных</a:t>
            </a:r>
            <a:endParaRPr lang="en-US" sz="1130" dirty="0"/>
          </a:p>
          <a:p>
            <a:pPr marL="0" indent="0">
              <a:buNone/>
            </a:pPr>
            <a:r>
              <a:rPr lang="en-US" sz="113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сохранение обращений</a:t>
            </a:r>
            <a:endParaRPr lang="en-US" sz="1130" dirty="0"/>
          </a:p>
          <a:p>
            <a:pPr marL="0" indent="0">
              <a:buNone/>
            </a:pPr>
            <a:r>
              <a:rPr lang="en-US" sz="113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контактная информация аэропорта</a:t>
            </a:r>
            <a:endParaRPr lang="en-US" sz="1130" dirty="0"/>
          </a:p>
        </p:txBody>
      </p:sp>
      <p:sp>
        <p:nvSpPr>
          <p:cNvPr id="18" name="Shape 16"/>
          <p:cNvSpPr/>
          <p:nvPr/>
        </p:nvSpPr>
        <p:spPr>
          <a:xfrm>
            <a:off x="5495544" y="1588414"/>
            <a:ext cx="6199632" cy="3882355"/>
          </a:xfrm>
          <a:prstGeom prst="roundRect">
            <a:avLst>
              <a:gd name="adj" fmla="val 3002"/>
            </a:avLst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  <a:effectLst>
            <a:outerShdw blurRad="25400" dist="50800" dir="2700000" algn="bl" rotWithShape="0">
              <a:srgbClr val="0C3769">
                <a:alpha val="11000"/>
              </a:srgbClr>
            </a:outerShdw>
          </a:effectLst>
        </p:spPr>
      </p:sp>
      <p:pic>
        <p:nvPicPr>
          <p:cNvPr id="19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532120" y="1688998"/>
            <a:ext cx="6126480" cy="3580587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1292840" y="644652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5/6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02920" y="6483096"/>
            <a:ext cx="1371600" cy="0"/>
          </a:xfrm>
          <a:prstGeom prst="line">
            <a:avLst/>
          </a:prstGeom>
          <a:noFill/>
          <a:ln w="12700">
            <a:solidFill>
              <a:srgbClr val="DBE8F5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5544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5F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✈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68680" y="7315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AeroBaku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93192"/>
            <a:ext cx="10058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AIRPORT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6976872" y="100584"/>
            <a:ext cx="960120" cy="411480"/>
          </a:xfrm>
          <a:prstGeom prst="roundRect">
            <a:avLst>
              <a:gd name="adj" fmla="val 48889"/>
            </a:avLst>
          </a:prstGeom>
          <a:solidFill>
            <a:srgbClr val="E7F3FF"/>
          </a:solidFill>
          <a:ln w="12700">
            <a:solidFill>
              <a:srgbClr val="E7F3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8660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74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Главная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813816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Рейсы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918972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Сервисы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10241280" y="2011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Поддержка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594360" y="89611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5F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РЕЗУЛЬТАТ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94360" y="120700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Итог работы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21792" y="2103120"/>
            <a:ext cx="4572000" cy="6400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Создан светлый адаптивный сайт аэропорта с онлайн-табло рейсов, фильтрами, сервисными страницами и формой поддержки.</a:t>
            </a:r>
            <a:endParaRPr lang="en-US" sz="1330" dirty="0"/>
          </a:p>
        </p:txBody>
      </p:sp>
      <p:sp>
        <p:nvSpPr>
          <p:cNvPr id="15" name="Shape 13"/>
          <p:cNvSpPr/>
          <p:nvPr/>
        </p:nvSpPr>
        <p:spPr>
          <a:xfrm>
            <a:off x="640080" y="2880360"/>
            <a:ext cx="4526280" cy="201168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  <a:effectLst>
            <a:outerShdw blurRad="25400" dist="50800" dir="2700000" algn="bl" rotWithShape="0">
              <a:srgbClr val="0C3769">
                <a:alpha val="11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318211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3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Возможности развития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3529584"/>
            <a:ext cx="3840480" cy="8229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16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подключение базы данных рейсов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бронирование и покупка билетов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API реальных статусов рейса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личный кабинет пассажира</a:t>
            </a:r>
            <a:endParaRPr lang="en-US" sz="1160" dirty="0"/>
          </a:p>
        </p:txBody>
      </p:sp>
      <p:sp>
        <p:nvSpPr>
          <p:cNvPr id="18" name="Shape 16"/>
          <p:cNvSpPr/>
          <p:nvPr/>
        </p:nvSpPr>
        <p:spPr>
          <a:xfrm>
            <a:off x="8375904" y="854847"/>
            <a:ext cx="2468880" cy="5468112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BE8F5"/>
            </a:solidFill>
            <a:prstDash val="solid"/>
          </a:ln>
          <a:effectLst>
            <a:outerShdw blurRad="25400" dist="50800" dir="2700000" algn="bl" rotWithShape="0">
              <a:srgbClr val="0C3769">
                <a:alpha val="11000"/>
              </a:srgbClr>
            </a:outerShdw>
          </a:effectLst>
        </p:spPr>
      </p:sp>
      <p:pic>
        <p:nvPicPr>
          <p:cNvPr id="19" name="Image 0" descr="/mnt/data/airport_docx_extract/word/media/imag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098021"/>
            <a:ext cx="2395728" cy="4661957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1292840" y="644652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67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6/6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502920" y="6483096"/>
            <a:ext cx="1371600" cy="0"/>
          </a:xfrm>
          <a:prstGeom prst="line">
            <a:avLst/>
          </a:prstGeom>
          <a:noFill/>
          <a:ln w="12700">
            <a:solidFill>
              <a:srgbClr val="DBE8F5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352</Words>
  <Application>Microsoft Office PowerPoint</Application>
  <PresentationFormat>Widescreen</PresentationFormat>
  <Paragraphs>132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ASOIU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онлайн информационной системы для аэропорта</dc:title>
  <dc:subject>AeroBaku Airport coursework presentation</dc:subject>
  <dc:creator>OpenAI</dc:creator>
  <cp:lastModifiedBy>Rahin</cp:lastModifiedBy>
  <cp:revision>3</cp:revision>
  <dcterms:created xsi:type="dcterms:W3CDTF">2026-05-10T17:05:51Z</dcterms:created>
  <dcterms:modified xsi:type="dcterms:W3CDTF">2026-05-19T05:07:41Z</dcterms:modified>
</cp:coreProperties>
</file>